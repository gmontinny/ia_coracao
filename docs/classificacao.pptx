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570781-4A24-48B7-A332-60298E66A293}">
  <a:tblStyle styleId="{A9570781-4A24-48B7-A332-60298E66A2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A24C5B0-32BB-49E3-9B4F-332F45C4C6C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d1b852f13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d1b852f13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d1b852f13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d1b852f13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d1b852f13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035168" y="5718519"/>
            <a:ext cx="10337369" cy="536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Luciano Galdino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59655" y="1899141"/>
            <a:ext cx="10888394" cy="210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b="1" i="0" lang="pt-BR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com Python</a:t>
            </a:r>
            <a:endParaRPr b="1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42776" y="1341586"/>
            <a:ext cx="2481776" cy="49612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Supervisionada</a:t>
            </a:r>
            <a:endParaRPr b="0" i="0" u="none" strike="noStrike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95" name="Google Shape;95;p14"/>
          <p:cNvSpPr txBox="1"/>
          <p:nvPr/>
        </p:nvSpPr>
        <p:spPr>
          <a:xfrm>
            <a:off x="542776" y="4730964"/>
            <a:ext cx="2481776" cy="8750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supervisionada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902611" y="753555"/>
            <a:ext cx="2090226" cy="49612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902611" y="1985422"/>
            <a:ext cx="1696331" cy="496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804137" y="3072513"/>
            <a:ext cx="2291863" cy="8440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Agrupamento (Clustering)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029220" y="4482901"/>
            <a:ext cx="1837007" cy="496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3910818" y="5760242"/>
            <a:ext cx="2841674" cy="8656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Redução de dimensionalidade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865033" y="385450"/>
            <a:ext cx="4979964" cy="120419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Variável Resposta é discreta (Sim ou Não, Azul ou Vermelho, 0 ou 1 ou 2).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865033" y="1785425"/>
            <a:ext cx="4979964" cy="8984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Previsão ou predição de um valor numérico.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794695" y="3021976"/>
            <a:ext cx="5120639" cy="8984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Agrupar dados por características (idade, gostos...)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794695" y="4074003"/>
            <a:ext cx="5120639" cy="13139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Obter regras com os dados (pais com crianças compram mais doces).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018585" y="5527682"/>
            <a:ext cx="3624775" cy="13139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das melhores variáveis para otimizar o processo.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4"/>
          <p:cNvCxnSpPr>
            <a:stCxn id="94" idx="3"/>
            <a:endCxn id="96" idx="1"/>
          </p:cNvCxnSpPr>
          <p:nvPr/>
        </p:nvCxnSpPr>
        <p:spPr>
          <a:xfrm flipH="1" rot="10800000">
            <a:off x="3024552" y="1001649"/>
            <a:ext cx="878100" cy="588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" name="Google Shape;107;p14"/>
          <p:cNvCxnSpPr>
            <a:stCxn id="94" idx="3"/>
            <a:endCxn id="97" idx="1"/>
          </p:cNvCxnSpPr>
          <p:nvPr/>
        </p:nvCxnSpPr>
        <p:spPr>
          <a:xfrm>
            <a:off x="3024552" y="1589649"/>
            <a:ext cx="878100" cy="643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" name="Google Shape;108;p14"/>
          <p:cNvCxnSpPr>
            <a:stCxn id="96" idx="3"/>
            <a:endCxn id="101" idx="1"/>
          </p:cNvCxnSpPr>
          <p:nvPr/>
        </p:nvCxnSpPr>
        <p:spPr>
          <a:xfrm flipH="1" rot="10800000">
            <a:off x="5992837" y="987518"/>
            <a:ext cx="872100" cy="141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" name="Google Shape;109;p14"/>
          <p:cNvCxnSpPr>
            <a:stCxn id="97" idx="3"/>
            <a:endCxn id="102" idx="1"/>
          </p:cNvCxnSpPr>
          <p:nvPr/>
        </p:nvCxnSpPr>
        <p:spPr>
          <a:xfrm>
            <a:off x="5598942" y="2233485"/>
            <a:ext cx="1266000" cy="1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" name="Google Shape;110;p14"/>
          <p:cNvCxnSpPr>
            <a:stCxn id="95" idx="3"/>
            <a:endCxn id="98" idx="1"/>
          </p:cNvCxnSpPr>
          <p:nvPr/>
        </p:nvCxnSpPr>
        <p:spPr>
          <a:xfrm flipH="1" rot="10800000">
            <a:off x="3024552" y="3494480"/>
            <a:ext cx="779700" cy="16740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" name="Google Shape;111;p14"/>
          <p:cNvCxnSpPr>
            <a:stCxn id="95" idx="3"/>
            <a:endCxn id="99" idx="1"/>
          </p:cNvCxnSpPr>
          <p:nvPr/>
        </p:nvCxnSpPr>
        <p:spPr>
          <a:xfrm flipH="1" rot="10800000">
            <a:off x="3024552" y="4731080"/>
            <a:ext cx="1004700" cy="437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" name="Google Shape;112;p14"/>
          <p:cNvCxnSpPr>
            <a:stCxn id="95" idx="3"/>
            <a:endCxn id="100" idx="1"/>
          </p:cNvCxnSpPr>
          <p:nvPr/>
        </p:nvCxnSpPr>
        <p:spPr>
          <a:xfrm>
            <a:off x="3024552" y="5168480"/>
            <a:ext cx="886200" cy="1024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" name="Google Shape;113;p14"/>
          <p:cNvCxnSpPr>
            <a:stCxn id="98" idx="3"/>
            <a:endCxn id="103" idx="1"/>
          </p:cNvCxnSpPr>
          <p:nvPr/>
        </p:nvCxnSpPr>
        <p:spPr>
          <a:xfrm flipH="1" rot="10800000">
            <a:off x="6096000" y="3471137"/>
            <a:ext cx="698700" cy="23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" name="Google Shape;114;p14"/>
          <p:cNvCxnSpPr>
            <a:stCxn id="99" idx="3"/>
            <a:endCxn id="104" idx="1"/>
          </p:cNvCxnSpPr>
          <p:nvPr/>
        </p:nvCxnSpPr>
        <p:spPr>
          <a:xfrm>
            <a:off x="5866227" y="4730964"/>
            <a:ext cx="9285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" name="Google Shape;115;p14"/>
          <p:cNvCxnSpPr>
            <a:stCxn id="100" idx="3"/>
            <a:endCxn id="105" idx="1"/>
          </p:cNvCxnSpPr>
          <p:nvPr/>
        </p:nvCxnSpPr>
        <p:spPr>
          <a:xfrm flipH="1" rot="10800000">
            <a:off x="6752492" y="6184663"/>
            <a:ext cx="1266000" cy="8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/>
        </p:nvSpPr>
        <p:spPr>
          <a:xfrm>
            <a:off x="669974" y="534565"/>
            <a:ext cx="10852052" cy="121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base nos dados de entrada estima-se um “classificador” que gera como saída uma classificação qualitativa de um dado não observado (Ex.: análise de crédito, chances de desenvolver doenças).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15"/>
          <p:cNvGraphicFramePr/>
          <p:nvPr/>
        </p:nvGraphicFramePr>
        <p:xfrm>
          <a:off x="1505243" y="2316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1303525"/>
                <a:gridCol w="1303525"/>
                <a:gridCol w="1534075"/>
                <a:gridCol w="1665200"/>
                <a:gridCol w="1557750"/>
                <a:gridCol w="1315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Paciente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Pressão Alta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Colesterol Alto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Triglicérides Alto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Pratica Esporte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TEVE AVC?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2" name="Google Shape;122;p15"/>
          <p:cNvGraphicFramePr/>
          <p:nvPr/>
        </p:nvGraphicFramePr>
        <p:xfrm>
          <a:off x="1505243" y="5113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{1A24C5B0-32BB-49E3-9B4F-332F45C4C6CA}</a:tableStyleId>
              </a:tblPr>
              <a:tblGrid>
                <a:gridCol w="1301525"/>
                <a:gridCol w="1301525"/>
                <a:gridCol w="1531725"/>
                <a:gridCol w="1662650"/>
                <a:gridCol w="1555375"/>
                <a:gridCol w="1326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Paciente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Pressão Alta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Colesterol Alto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Triglicérides Alto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Pratica Esporte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PODERÁ TER AVC?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NÃO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SIM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?????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2610679" y="207655"/>
            <a:ext cx="6811617" cy="40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 desempenho: Matriz de confusão</a:t>
            </a:r>
            <a:endParaRPr b="1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575" y="1080703"/>
            <a:ext cx="8526050" cy="54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17"/>
          <p:cNvGraphicFramePr/>
          <p:nvPr/>
        </p:nvGraphicFramePr>
        <p:xfrm>
          <a:off x="2067951" y="8442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1237950"/>
                <a:gridCol w="1603725"/>
                <a:gridCol w="2008150"/>
                <a:gridCol w="1616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Viúva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17"/>
          <p:cNvSpPr/>
          <p:nvPr/>
        </p:nvSpPr>
        <p:spPr>
          <a:xfrm>
            <a:off x="2067951" y="3075732"/>
            <a:ext cx="4825218" cy="407963"/>
          </a:xfrm>
          <a:custGeom>
            <a:rect b="b" l="l" r="r" t="t"/>
            <a:pathLst>
              <a:path extrusionOk="0" h="407963" w="4825218">
                <a:moveTo>
                  <a:pt x="0" y="0"/>
                </a:moveTo>
                <a:cubicBezTo>
                  <a:pt x="934329" y="203981"/>
                  <a:pt x="1868658" y="407963"/>
                  <a:pt x="2672861" y="407963"/>
                </a:cubicBezTo>
                <a:cubicBezTo>
                  <a:pt x="3477064" y="407963"/>
                  <a:pt x="4151141" y="203981"/>
                  <a:pt x="4825218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7"/>
          <p:cNvCxnSpPr>
            <a:stCxn id="134" idx="1"/>
          </p:cNvCxnSpPr>
          <p:nvPr/>
        </p:nvCxnSpPr>
        <p:spPr>
          <a:xfrm>
            <a:off x="4740812" y="3483695"/>
            <a:ext cx="773700" cy="43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7"/>
          <p:cNvSpPr txBox="1"/>
          <p:nvPr/>
        </p:nvSpPr>
        <p:spPr>
          <a:xfrm>
            <a:off x="5457108" y="3367754"/>
            <a:ext cx="157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Previsores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(atributos)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921304" y="3061665"/>
            <a:ext cx="1575966" cy="323583"/>
          </a:xfrm>
          <a:custGeom>
            <a:rect b="b" l="l" r="r" t="t"/>
            <a:pathLst>
              <a:path extrusionOk="0" h="323583" w="1575966">
                <a:moveTo>
                  <a:pt x="0" y="14067"/>
                </a:moveTo>
                <a:cubicBezTo>
                  <a:pt x="276665" y="169984"/>
                  <a:pt x="553330" y="325902"/>
                  <a:pt x="815927" y="323557"/>
                </a:cubicBezTo>
                <a:cubicBezTo>
                  <a:pt x="1078524" y="321213"/>
                  <a:pt x="1591994" y="30480"/>
                  <a:pt x="1575582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7"/>
          <p:cNvCxnSpPr>
            <a:stCxn id="137" idx="1"/>
          </p:cNvCxnSpPr>
          <p:nvPr/>
        </p:nvCxnSpPr>
        <p:spPr>
          <a:xfrm>
            <a:off x="7737231" y="3385222"/>
            <a:ext cx="1106700" cy="13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9" name="Google Shape;139;p17"/>
          <p:cNvSpPr txBox="1"/>
          <p:nvPr/>
        </p:nvSpPr>
        <p:spPr>
          <a:xfrm>
            <a:off x="8911305" y="3109022"/>
            <a:ext cx="157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Classe (target)</a:t>
            </a:r>
            <a:endParaRPr/>
          </a:p>
        </p:txBody>
      </p:sp>
      <p:graphicFrame>
        <p:nvGraphicFramePr>
          <p:cNvPr id="140" name="Google Shape;140;p17"/>
          <p:cNvGraphicFramePr/>
          <p:nvPr/>
        </p:nvGraphicFramePr>
        <p:xfrm>
          <a:off x="590265" y="4387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14975"/>
                <a:gridCol w="1280150"/>
                <a:gridCol w="2011675"/>
                <a:gridCol w="1069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7"/>
          <p:cNvSpPr txBox="1"/>
          <p:nvPr/>
        </p:nvSpPr>
        <p:spPr>
          <a:xfrm>
            <a:off x="2610679" y="207655"/>
            <a:ext cx="6811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 desempenho: Matriz de confusão</a:t>
            </a:r>
            <a:endParaRPr b="1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18"/>
          <p:cNvGraphicFramePr/>
          <p:nvPr/>
        </p:nvGraphicFramePr>
        <p:xfrm>
          <a:off x="2067951" y="830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1237950"/>
                <a:gridCol w="1603725"/>
                <a:gridCol w="2008150"/>
                <a:gridCol w="1616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Viúva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8"/>
          <p:cNvSpPr/>
          <p:nvPr/>
        </p:nvSpPr>
        <p:spPr>
          <a:xfrm>
            <a:off x="2067951" y="3062477"/>
            <a:ext cx="4825218" cy="407963"/>
          </a:xfrm>
          <a:custGeom>
            <a:rect b="b" l="l" r="r" t="t"/>
            <a:pathLst>
              <a:path extrusionOk="0" h="407963" w="4825218">
                <a:moveTo>
                  <a:pt x="0" y="0"/>
                </a:moveTo>
                <a:cubicBezTo>
                  <a:pt x="934329" y="203981"/>
                  <a:pt x="1868658" y="407963"/>
                  <a:pt x="2672861" y="407963"/>
                </a:cubicBezTo>
                <a:cubicBezTo>
                  <a:pt x="3477064" y="407963"/>
                  <a:pt x="4151141" y="203981"/>
                  <a:pt x="4825218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8"/>
          <p:cNvCxnSpPr>
            <a:stCxn id="147" idx="1"/>
          </p:cNvCxnSpPr>
          <p:nvPr/>
        </p:nvCxnSpPr>
        <p:spPr>
          <a:xfrm>
            <a:off x="4740812" y="3470440"/>
            <a:ext cx="773700" cy="43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" name="Google Shape;149;p18"/>
          <p:cNvSpPr txBox="1"/>
          <p:nvPr/>
        </p:nvSpPr>
        <p:spPr>
          <a:xfrm>
            <a:off x="5457108" y="3354499"/>
            <a:ext cx="157558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Previsores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(atributos)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921304" y="3048410"/>
            <a:ext cx="1575966" cy="323583"/>
          </a:xfrm>
          <a:custGeom>
            <a:rect b="b" l="l" r="r" t="t"/>
            <a:pathLst>
              <a:path extrusionOk="0" h="323583" w="1575966">
                <a:moveTo>
                  <a:pt x="0" y="14067"/>
                </a:moveTo>
                <a:cubicBezTo>
                  <a:pt x="276665" y="169984"/>
                  <a:pt x="553330" y="325902"/>
                  <a:pt x="815927" y="323557"/>
                </a:cubicBezTo>
                <a:cubicBezTo>
                  <a:pt x="1078524" y="321213"/>
                  <a:pt x="1591994" y="30480"/>
                  <a:pt x="1575582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8"/>
          <p:cNvCxnSpPr>
            <a:stCxn id="150" idx="1"/>
          </p:cNvCxnSpPr>
          <p:nvPr/>
        </p:nvCxnSpPr>
        <p:spPr>
          <a:xfrm>
            <a:off x="7737231" y="3371967"/>
            <a:ext cx="1106700" cy="13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2" name="Google Shape;152;p18"/>
          <p:cNvSpPr txBox="1"/>
          <p:nvPr/>
        </p:nvSpPr>
        <p:spPr>
          <a:xfrm>
            <a:off x="8911305" y="3095767"/>
            <a:ext cx="15759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Classe (target)</a:t>
            </a:r>
            <a:endParaRPr/>
          </a:p>
        </p:txBody>
      </p:sp>
      <p:graphicFrame>
        <p:nvGraphicFramePr>
          <p:cNvPr id="153" name="Google Shape;153;p18"/>
          <p:cNvGraphicFramePr/>
          <p:nvPr/>
        </p:nvGraphicFramePr>
        <p:xfrm>
          <a:off x="590265" y="4373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14975"/>
                <a:gridCol w="1280150"/>
                <a:gridCol w="2011675"/>
                <a:gridCol w="1069150"/>
                <a:gridCol w="858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Saída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8"/>
          <p:cNvSpPr txBox="1"/>
          <p:nvPr/>
        </p:nvSpPr>
        <p:spPr>
          <a:xfrm>
            <a:off x="8645206" y="4058291"/>
            <a:ext cx="27428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Confusão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169051" y="6368197"/>
            <a:ext cx="1695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acerto</a:t>
            </a:r>
            <a:endParaRPr/>
          </a:p>
        </p:txBody>
      </p:sp>
      <p:graphicFrame>
        <p:nvGraphicFramePr>
          <p:cNvPr id="156" name="Google Shape;156;p18"/>
          <p:cNvGraphicFramePr/>
          <p:nvPr/>
        </p:nvGraphicFramePr>
        <p:xfrm>
          <a:off x="8211522" y="4481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03225"/>
                <a:gridCol w="777875"/>
                <a:gridCol w="841825"/>
                <a:gridCol w="809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Referência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 hMerge="1"/>
                <a:tc hMerge="1"/>
              </a:tr>
              <a:tr h="37085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400" u="none" cap="none" strike="noStrike"/>
                        <a:t>Saída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7" name="Google Shape;157;p18"/>
          <p:cNvSpPr txBox="1"/>
          <p:nvPr/>
        </p:nvSpPr>
        <p:spPr>
          <a:xfrm>
            <a:off x="2610679" y="207655"/>
            <a:ext cx="6811617" cy="40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 desempenho: Matriz de confusão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19"/>
          <p:cNvGraphicFramePr/>
          <p:nvPr/>
        </p:nvGraphicFramePr>
        <p:xfrm>
          <a:off x="2067951" y="698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1237950"/>
                <a:gridCol w="1603725"/>
                <a:gridCol w="2008150"/>
                <a:gridCol w="1616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Viúva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19"/>
          <p:cNvSpPr/>
          <p:nvPr/>
        </p:nvSpPr>
        <p:spPr>
          <a:xfrm>
            <a:off x="2067951" y="2929955"/>
            <a:ext cx="4825218" cy="407963"/>
          </a:xfrm>
          <a:custGeom>
            <a:rect b="b" l="l" r="r" t="t"/>
            <a:pathLst>
              <a:path extrusionOk="0" h="407963" w="4825218">
                <a:moveTo>
                  <a:pt x="0" y="0"/>
                </a:moveTo>
                <a:cubicBezTo>
                  <a:pt x="934329" y="203981"/>
                  <a:pt x="1868658" y="407963"/>
                  <a:pt x="2672861" y="407963"/>
                </a:cubicBezTo>
                <a:cubicBezTo>
                  <a:pt x="3477064" y="407963"/>
                  <a:pt x="4151141" y="203981"/>
                  <a:pt x="4825218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9"/>
          <p:cNvCxnSpPr>
            <a:stCxn id="163" idx="1"/>
          </p:cNvCxnSpPr>
          <p:nvPr/>
        </p:nvCxnSpPr>
        <p:spPr>
          <a:xfrm>
            <a:off x="4740812" y="3337918"/>
            <a:ext cx="773700" cy="43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5" name="Google Shape;165;p19"/>
          <p:cNvSpPr txBox="1"/>
          <p:nvPr/>
        </p:nvSpPr>
        <p:spPr>
          <a:xfrm>
            <a:off x="5457108" y="3221977"/>
            <a:ext cx="157558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Previsores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(atributos)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6921304" y="2915888"/>
            <a:ext cx="1575966" cy="323583"/>
          </a:xfrm>
          <a:custGeom>
            <a:rect b="b" l="l" r="r" t="t"/>
            <a:pathLst>
              <a:path extrusionOk="0" h="323583" w="1575966">
                <a:moveTo>
                  <a:pt x="0" y="14067"/>
                </a:moveTo>
                <a:cubicBezTo>
                  <a:pt x="276665" y="169984"/>
                  <a:pt x="553330" y="325902"/>
                  <a:pt x="815927" y="323557"/>
                </a:cubicBezTo>
                <a:cubicBezTo>
                  <a:pt x="1078524" y="321213"/>
                  <a:pt x="1591994" y="30480"/>
                  <a:pt x="1575582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9"/>
          <p:cNvCxnSpPr>
            <a:stCxn id="166" idx="1"/>
          </p:cNvCxnSpPr>
          <p:nvPr/>
        </p:nvCxnSpPr>
        <p:spPr>
          <a:xfrm>
            <a:off x="7737231" y="3239445"/>
            <a:ext cx="1106700" cy="13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8" name="Google Shape;168;p19"/>
          <p:cNvSpPr txBox="1"/>
          <p:nvPr/>
        </p:nvSpPr>
        <p:spPr>
          <a:xfrm>
            <a:off x="8911305" y="2963245"/>
            <a:ext cx="15759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Classe (target)</a:t>
            </a:r>
            <a:endParaRPr/>
          </a:p>
        </p:txBody>
      </p:sp>
      <p:graphicFrame>
        <p:nvGraphicFramePr>
          <p:cNvPr id="169" name="Google Shape;169;p19"/>
          <p:cNvGraphicFramePr/>
          <p:nvPr/>
        </p:nvGraphicFramePr>
        <p:xfrm>
          <a:off x="590265" y="4241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14975"/>
                <a:gridCol w="1280150"/>
                <a:gridCol w="2011675"/>
                <a:gridCol w="1069150"/>
                <a:gridCol w="858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Saída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9"/>
          <p:cNvSpPr txBox="1"/>
          <p:nvPr/>
        </p:nvSpPr>
        <p:spPr>
          <a:xfrm>
            <a:off x="8645206" y="3925769"/>
            <a:ext cx="27428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Confusão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169051" y="6235675"/>
            <a:ext cx="1695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 acerto</a:t>
            </a:r>
            <a:endParaRPr/>
          </a:p>
        </p:txBody>
      </p:sp>
      <p:graphicFrame>
        <p:nvGraphicFramePr>
          <p:cNvPr id="172" name="Google Shape;172;p19"/>
          <p:cNvGraphicFramePr/>
          <p:nvPr/>
        </p:nvGraphicFramePr>
        <p:xfrm>
          <a:off x="8041397" y="4348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30925"/>
                <a:gridCol w="823475"/>
                <a:gridCol w="891175"/>
                <a:gridCol w="857325"/>
              </a:tblGrid>
              <a:tr h="457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Referência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 hMerge="1"/>
                <a:tc hMerge="1"/>
              </a:tr>
              <a:tr h="45722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400" u="none" cap="none" strike="noStrike"/>
                        <a:t>Saída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572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3" name="Google Shape;173;p19"/>
          <p:cNvSpPr txBox="1"/>
          <p:nvPr/>
        </p:nvSpPr>
        <p:spPr>
          <a:xfrm>
            <a:off x="2610679" y="207655"/>
            <a:ext cx="6811617" cy="40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 desempenho: Matriz de confusão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20"/>
          <p:cNvGraphicFramePr/>
          <p:nvPr/>
        </p:nvGraphicFramePr>
        <p:xfrm>
          <a:off x="2067951" y="738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1237950"/>
                <a:gridCol w="1603725"/>
                <a:gridCol w="2008150"/>
                <a:gridCol w="1616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Viúva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Básico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Masculino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Feminino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Solteira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Superior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>
            <a:off x="2067951" y="2969710"/>
            <a:ext cx="4825218" cy="407963"/>
          </a:xfrm>
          <a:custGeom>
            <a:rect b="b" l="l" r="r" t="t"/>
            <a:pathLst>
              <a:path extrusionOk="0" h="407963" w="4825218">
                <a:moveTo>
                  <a:pt x="0" y="0"/>
                </a:moveTo>
                <a:cubicBezTo>
                  <a:pt x="934329" y="203981"/>
                  <a:pt x="1868658" y="407963"/>
                  <a:pt x="2672861" y="407963"/>
                </a:cubicBezTo>
                <a:cubicBezTo>
                  <a:pt x="3477064" y="407963"/>
                  <a:pt x="4151141" y="203981"/>
                  <a:pt x="4825218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20"/>
          <p:cNvCxnSpPr>
            <a:stCxn id="179" idx="1"/>
          </p:cNvCxnSpPr>
          <p:nvPr/>
        </p:nvCxnSpPr>
        <p:spPr>
          <a:xfrm>
            <a:off x="4740812" y="3377673"/>
            <a:ext cx="773700" cy="43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20"/>
          <p:cNvSpPr txBox="1"/>
          <p:nvPr/>
        </p:nvSpPr>
        <p:spPr>
          <a:xfrm>
            <a:off x="5457108" y="3261732"/>
            <a:ext cx="157558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Previsores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(atributos)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6921304" y="2955643"/>
            <a:ext cx="1575966" cy="323583"/>
          </a:xfrm>
          <a:custGeom>
            <a:rect b="b" l="l" r="r" t="t"/>
            <a:pathLst>
              <a:path extrusionOk="0" h="323583" w="1575966">
                <a:moveTo>
                  <a:pt x="0" y="14067"/>
                </a:moveTo>
                <a:cubicBezTo>
                  <a:pt x="276665" y="169984"/>
                  <a:pt x="553330" y="325902"/>
                  <a:pt x="815927" y="323557"/>
                </a:cubicBezTo>
                <a:cubicBezTo>
                  <a:pt x="1078524" y="321213"/>
                  <a:pt x="1591994" y="30480"/>
                  <a:pt x="1575582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20"/>
          <p:cNvCxnSpPr>
            <a:stCxn id="182" idx="1"/>
          </p:cNvCxnSpPr>
          <p:nvPr/>
        </p:nvCxnSpPr>
        <p:spPr>
          <a:xfrm>
            <a:off x="7737231" y="3279200"/>
            <a:ext cx="1106700" cy="13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4" name="Google Shape;184;p20"/>
          <p:cNvSpPr txBox="1"/>
          <p:nvPr/>
        </p:nvSpPr>
        <p:spPr>
          <a:xfrm>
            <a:off x="8911305" y="3003000"/>
            <a:ext cx="15759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Classe (target)</a:t>
            </a:r>
            <a:endParaRPr/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590265" y="42812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14975"/>
                <a:gridCol w="1280150"/>
                <a:gridCol w="2011675"/>
                <a:gridCol w="1069150"/>
                <a:gridCol w="858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Gênero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Estado Civil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Grau de instrução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Saída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99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0"/>
          <p:cNvSpPr txBox="1"/>
          <p:nvPr/>
        </p:nvSpPr>
        <p:spPr>
          <a:xfrm>
            <a:off x="8645206" y="3965524"/>
            <a:ext cx="27428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Confusão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169051" y="6275430"/>
            <a:ext cx="1695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acerto</a:t>
            </a:r>
            <a:endParaRPr/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7656422" y="43885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{A9570781-4A24-48B7-A332-60298E66A293}</a:tableStyleId>
              </a:tblPr>
              <a:tblGrid>
                <a:gridCol w="942900"/>
                <a:gridCol w="942900"/>
                <a:gridCol w="1020425"/>
                <a:gridCol w="981650"/>
              </a:tblGrid>
              <a:tr h="457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Referência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 hMerge="1"/>
                <a:tc hMerge="1"/>
              </a:tr>
              <a:tr h="45722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400" u="none" cap="none" strike="noStrike"/>
                        <a:t>Saída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572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2610679" y="207655"/>
            <a:ext cx="6811617" cy="40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 desempenho: Matriz de confusão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25" y="1387900"/>
            <a:ext cx="6257150" cy="115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25" y="2802525"/>
            <a:ext cx="4700125" cy="105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25" y="4023150"/>
            <a:ext cx="4371526" cy="105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575" y="5470500"/>
            <a:ext cx="6257150" cy="82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2413724" y="360050"/>
            <a:ext cx="7810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 desempenho: Matriz de confusão</a:t>
            </a:r>
            <a:endParaRPr b="1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41725" y="4730521"/>
            <a:ext cx="4964725" cy="17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2075" y="920450"/>
            <a:ext cx="5047525" cy="3235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733275" y="1231375"/>
            <a:ext cx="5247300" cy="52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9750" lvl="0" marL="5143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Regressão Logística</a:t>
            </a:r>
            <a:endParaRPr sz="3200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i="0" lang="pt-BR" sz="3200" u="none" strike="noStrike"/>
              <a:t>Naive Bayes</a:t>
            </a:r>
            <a:endParaRPr b="1" i="0" sz="3200" u="none" strike="noStrike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strike="noStrike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Árvore de decisão</a:t>
            </a:r>
            <a:endParaRPr sz="3200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Random Forest</a:t>
            </a:r>
            <a:endParaRPr sz="3200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KNN</a:t>
            </a:r>
            <a:endParaRPr b="1" i="0" sz="3200" u="none" strike="noStrike"/>
          </a:p>
          <a:p>
            <a:pPr indent="-4635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b="1" i="0" sz="800" u="none" strike="noStrike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7" name="Google Shape;207;p22"/>
          <p:cNvSpPr txBox="1"/>
          <p:nvPr/>
        </p:nvSpPr>
        <p:spPr>
          <a:xfrm>
            <a:off x="838195" y="304400"/>
            <a:ext cx="105156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Algoritmos de Classificação</a:t>
            </a:r>
            <a:endParaRPr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5783650" y="444300"/>
            <a:ext cx="6292800" cy="6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u="none" strike="noStrike"/>
          </a:p>
          <a:p>
            <a:pPr indent="-4635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b="1" i="0" sz="800" u="none" strike="noStrike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Máquinas de Vetor de Suporte</a:t>
            </a:r>
            <a:endParaRPr sz="3200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XGBoost</a:t>
            </a:r>
            <a:endParaRPr b="1" sz="3200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LightGBM</a:t>
            </a:r>
            <a:endParaRPr b="1" sz="3200"/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CatBoost</a:t>
            </a:r>
            <a:endParaRPr b="1" sz="32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5397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b="1" lang="pt-BR" sz="3200"/>
              <a:t>Redes Neurais Artificiais</a:t>
            </a:r>
            <a:endParaRPr b="1" sz="3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